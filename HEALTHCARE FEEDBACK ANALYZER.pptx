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Times New Roman Bold" panose="02020803070505020304" pitchFamily="18" charset="0"/>
      <p:regular r:id="rId15"/>
      <p:bold r:id="rId16"/>
    </p:embeddedFont>
    <p:embeddedFont>
      <p:font typeface="Times New Roman Bold Italics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514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5F4F2">
                <a:alpha val="100000"/>
              </a:srgbClr>
            </a:gs>
            <a:gs pos="100000">
              <a:srgbClr val="E3F2F7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2117574"/>
            <a:ext cx="5021239" cy="8488286"/>
          </a:xfrm>
          <a:custGeom>
            <a:avLst/>
            <a:gdLst/>
            <a:ahLst/>
            <a:cxnLst/>
            <a:rect l="l" t="t" r="r" b="b"/>
            <a:pathLst>
              <a:path w="5021239" h="8488286">
                <a:moveTo>
                  <a:pt x="0" y="0"/>
                </a:moveTo>
                <a:lnTo>
                  <a:pt x="5021239" y="0"/>
                </a:lnTo>
                <a:lnTo>
                  <a:pt x="5021239" y="8488285"/>
                </a:lnTo>
                <a:lnTo>
                  <a:pt x="0" y="84882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0" y="-494387"/>
            <a:ext cx="5021239" cy="3046174"/>
          </a:xfrm>
          <a:custGeom>
            <a:avLst/>
            <a:gdLst/>
            <a:ahLst/>
            <a:cxnLst/>
            <a:rect l="l" t="t" r="r" b="b"/>
            <a:pathLst>
              <a:path w="5021239" h="3046174">
                <a:moveTo>
                  <a:pt x="0" y="0"/>
                </a:moveTo>
                <a:lnTo>
                  <a:pt x="5021239" y="0"/>
                </a:lnTo>
                <a:lnTo>
                  <a:pt x="5021239" y="3046174"/>
                </a:lnTo>
                <a:lnTo>
                  <a:pt x="0" y="30461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78654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236627" y="-46191"/>
            <a:ext cx="4547985" cy="10321654"/>
            <a:chOff x="0" y="0"/>
            <a:chExt cx="704602" cy="159909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04602" cy="1599094"/>
            </a:xfrm>
            <a:custGeom>
              <a:avLst/>
              <a:gdLst/>
              <a:ahLst/>
              <a:cxnLst/>
              <a:rect l="l" t="t" r="r" b="b"/>
              <a:pathLst>
                <a:path w="704602" h="1599094">
                  <a:moveTo>
                    <a:pt x="0" y="0"/>
                  </a:moveTo>
                  <a:lnTo>
                    <a:pt x="704602" y="0"/>
                  </a:lnTo>
                  <a:lnTo>
                    <a:pt x="704602" y="1599094"/>
                  </a:lnTo>
                  <a:lnTo>
                    <a:pt x="0" y="1599094"/>
                  </a:lnTo>
                  <a:close/>
                </a:path>
              </a:pathLst>
            </a:custGeom>
            <a:blipFill>
              <a:blip r:embed="rId3"/>
              <a:stretch>
                <a:fillRect l="-30182" r="-21024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Freeform 6"/>
          <p:cNvSpPr/>
          <p:nvPr/>
        </p:nvSpPr>
        <p:spPr>
          <a:xfrm>
            <a:off x="12036334" y="3665235"/>
            <a:ext cx="6520947" cy="6820542"/>
          </a:xfrm>
          <a:custGeom>
            <a:avLst/>
            <a:gdLst/>
            <a:ahLst/>
            <a:cxnLst/>
            <a:rect l="l" t="t" r="r" b="b"/>
            <a:pathLst>
              <a:path w="6520947" h="6820542">
                <a:moveTo>
                  <a:pt x="0" y="0"/>
                </a:moveTo>
                <a:lnTo>
                  <a:pt x="6520947" y="0"/>
                </a:lnTo>
                <a:lnTo>
                  <a:pt x="6520947" y="6820542"/>
                </a:lnTo>
                <a:lnTo>
                  <a:pt x="0" y="68205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6472818" y="971550"/>
            <a:ext cx="10148643" cy="4673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150"/>
              </a:lnSpc>
            </a:pPr>
            <a:r>
              <a:rPr lang="en-US" sz="10041" b="1" i="1" u="sng">
                <a:solidFill>
                  <a:srgbClr val="181616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HEALTHCARE FEEDBACK ANALYZER</a:t>
            </a:r>
          </a:p>
        </p:txBody>
      </p:sp>
      <p:sp>
        <p:nvSpPr>
          <p:cNvPr id="8" name="Freeform 8"/>
          <p:cNvSpPr/>
          <p:nvPr/>
        </p:nvSpPr>
        <p:spPr>
          <a:xfrm flipH="1">
            <a:off x="2660560" y="1471101"/>
            <a:ext cx="4248105" cy="8804362"/>
          </a:xfrm>
          <a:custGeom>
            <a:avLst/>
            <a:gdLst/>
            <a:ahLst/>
            <a:cxnLst/>
            <a:rect l="l" t="t" r="r" b="b"/>
            <a:pathLst>
              <a:path w="4248105" h="8804362">
                <a:moveTo>
                  <a:pt x="4248104" y="0"/>
                </a:moveTo>
                <a:lnTo>
                  <a:pt x="0" y="0"/>
                </a:lnTo>
                <a:lnTo>
                  <a:pt x="0" y="8804362"/>
                </a:lnTo>
                <a:lnTo>
                  <a:pt x="4248104" y="8804362"/>
                </a:lnTo>
                <a:lnTo>
                  <a:pt x="4248104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/>
          <p:cNvSpPr txBox="1"/>
          <p:nvPr/>
        </p:nvSpPr>
        <p:spPr>
          <a:xfrm>
            <a:off x="7100171" y="6670590"/>
            <a:ext cx="10482221" cy="3275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97"/>
              </a:lnSpc>
            </a:pPr>
            <a:r>
              <a:rPr lang="en-US" sz="3512" u="none" strike="noStrike">
                <a:solidFill>
                  <a:srgbClr val="014AA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Name:</a:t>
            </a:r>
            <a:r>
              <a:rPr lang="en-US" sz="3512" b="1" u="none" strike="noStrike">
                <a:solidFill>
                  <a:srgbClr val="014A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512" b="1" u="none" strike="noStrik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PALAK, NAVDHA, PRIYANSHI</a:t>
            </a:r>
          </a:p>
          <a:p>
            <a:pPr marL="0" lvl="0" indent="0" algn="l">
              <a:lnSpc>
                <a:spcPts val="5197"/>
              </a:lnSpc>
            </a:pPr>
            <a:r>
              <a:rPr lang="en-US" sz="3512" u="none" strike="noStrike">
                <a:solidFill>
                  <a:srgbClr val="014AA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Course:</a:t>
            </a:r>
            <a:r>
              <a:rPr lang="en-US" sz="3512" b="1" u="none" strike="noStrike">
                <a:solidFill>
                  <a:srgbClr val="014A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512" b="1" u="none" strike="noStrik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B.Tech. AI</a:t>
            </a:r>
          </a:p>
          <a:p>
            <a:pPr marL="0" lvl="0" indent="0" algn="l">
              <a:lnSpc>
                <a:spcPts val="5197"/>
              </a:lnSpc>
            </a:pPr>
            <a:r>
              <a:rPr lang="en-US" sz="3512" u="none" strike="noStrike">
                <a:solidFill>
                  <a:srgbClr val="014AA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Subject:</a:t>
            </a:r>
            <a:r>
              <a:rPr lang="en-US" sz="3512" b="1" u="none" strike="noStrike">
                <a:solidFill>
                  <a:srgbClr val="014A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512" b="1" u="none" strike="noStrik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Foundations of AI</a:t>
            </a:r>
            <a:r>
              <a:rPr lang="en-US" sz="3512" b="1" u="none" strike="noStrike">
                <a:solidFill>
                  <a:srgbClr val="014A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512" b="1" u="none" strike="noStrik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Programming using Python </a:t>
            </a:r>
          </a:p>
          <a:p>
            <a:pPr marL="0" lvl="0" indent="0" algn="l">
              <a:lnSpc>
                <a:spcPts val="5197"/>
              </a:lnSpc>
            </a:pPr>
            <a:r>
              <a:rPr lang="en-US" sz="3512" u="none" strike="noStrike">
                <a:solidFill>
                  <a:srgbClr val="014AA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Submitted to:</a:t>
            </a:r>
            <a:r>
              <a:rPr lang="en-US" sz="3512" b="1" u="none" strike="noStrike">
                <a:solidFill>
                  <a:srgbClr val="014A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512" b="1" u="none" strike="noStrik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DR. SHAKSHI SHARMA</a:t>
            </a:r>
          </a:p>
          <a:p>
            <a:pPr marL="0" lvl="0" indent="0" algn="l">
              <a:lnSpc>
                <a:spcPts val="5197"/>
              </a:lnSpc>
            </a:pPr>
            <a:endParaRPr lang="en-US" sz="3512" b="1" u="none" strike="noStrike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5F4F2">
                <a:alpha val="100000"/>
              </a:srgbClr>
            </a:gs>
            <a:gs pos="100000">
              <a:srgbClr val="E3F2F7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73567" y="2850726"/>
            <a:ext cx="6180795" cy="6985438"/>
            <a:chOff x="0" y="0"/>
            <a:chExt cx="957567" cy="10822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57567" cy="1082227"/>
            </a:xfrm>
            <a:custGeom>
              <a:avLst/>
              <a:gdLst/>
              <a:ahLst/>
              <a:cxnLst/>
              <a:rect l="l" t="t" r="r" b="b"/>
              <a:pathLst>
                <a:path w="957567" h="1082227">
                  <a:moveTo>
                    <a:pt x="0" y="0"/>
                  </a:moveTo>
                  <a:lnTo>
                    <a:pt x="957567" y="0"/>
                  </a:lnTo>
                  <a:lnTo>
                    <a:pt x="957567" y="1082227"/>
                  </a:lnTo>
                  <a:lnTo>
                    <a:pt x="0" y="1082227"/>
                  </a:lnTo>
                  <a:close/>
                </a:path>
              </a:pathLst>
            </a:custGeom>
            <a:blipFill>
              <a:blip r:embed="rId2"/>
              <a:stretch>
                <a:fillRect l="-63586" r="-6358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" name="AutoShape 4"/>
          <p:cNvSpPr/>
          <p:nvPr/>
        </p:nvSpPr>
        <p:spPr>
          <a:xfrm flipV="1">
            <a:off x="774280" y="2603684"/>
            <a:ext cx="0" cy="6761223"/>
          </a:xfrm>
          <a:prstGeom prst="line">
            <a:avLst/>
          </a:prstGeom>
          <a:ln w="19050" cap="rnd">
            <a:solidFill>
              <a:srgbClr val="112D4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5" name="Group 5"/>
          <p:cNvGrpSpPr/>
          <p:nvPr/>
        </p:nvGrpSpPr>
        <p:grpSpPr>
          <a:xfrm>
            <a:off x="7977140" y="6079848"/>
            <a:ext cx="2558602" cy="3756316"/>
            <a:chOff x="0" y="0"/>
            <a:chExt cx="812800" cy="119328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1193282"/>
            </a:xfrm>
            <a:custGeom>
              <a:avLst/>
              <a:gdLst/>
              <a:ahLst/>
              <a:cxnLst/>
              <a:rect l="l" t="t" r="r" b="b"/>
              <a:pathLst>
                <a:path w="812800" h="1193282">
                  <a:moveTo>
                    <a:pt x="0" y="0"/>
                  </a:moveTo>
                  <a:lnTo>
                    <a:pt x="812800" y="0"/>
                  </a:lnTo>
                  <a:lnTo>
                    <a:pt x="812800" y="1193282"/>
                  </a:lnTo>
                  <a:lnTo>
                    <a:pt x="0" y="1193282"/>
                  </a:lnTo>
                  <a:close/>
                </a:path>
              </a:pathLst>
            </a:custGeom>
            <a:blipFill>
              <a:blip r:embed="rId3"/>
              <a:stretch>
                <a:fillRect l="-60177" r="-60177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774280" y="839064"/>
            <a:ext cx="12510854" cy="1073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19"/>
              </a:lnSpc>
            </a:pPr>
            <a:r>
              <a:rPr lang="en-US" sz="6999" b="1" spc="433">
                <a:solidFill>
                  <a:srgbClr val="18161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</a:t>
            </a:r>
          </a:p>
        </p:txBody>
      </p:sp>
      <p:sp>
        <p:nvSpPr>
          <p:cNvPr id="8" name="Freeform 8"/>
          <p:cNvSpPr/>
          <p:nvPr/>
        </p:nvSpPr>
        <p:spPr>
          <a:xfrm>
            <a:off x="12036334" y="3665235"/>
            <a:ext cx="6520947" cy="6820542"/>
          </a:xfrm>
          <a:custGeom>
            <a:avLst/>
            <a:gdLst/>
            <a:ahLst/>
            <a:cxnLst/>
            <a:rect l="l" t="t" r="r" b="b"/>
            <a:pathLst>
              <a:path w="6520947" h="6820542">
                <a:moveTo>
                  <a:pt x="0" y="0"/>
                </a:moveTo>
                <a:lnTo>
                  <a:pt x="6520947" y="0"/>
                </a:lnTo>
                <a:lnTo>
                  <a:pt x="6520947" y="6820542"/>
                </a:lnTo>
                <a:lnTo>
                  <a:pt x="0" y="68205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/>
          <p:cNvSpPr txBox="1"/>
          <p:nvPr/>
        </p:nvSpPr>
        <p:spPr>
          <a:xfrm>
            <a:off x="8316337" y="2801300"/>
            <a:ext cx="7294102" cy="1848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648"/>
              </a:lnSpc>
            </a:pPr>
            <a:r>
              <a:rPr lang="en-US" sz="30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•Healthcare institutions receive a large amount of feedback from patients regarding services such as staff behavior, waiting time, facilities, billing, and treatment quality.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833481" y="6060798"/>
            <a:ext cx="6621172" cy="3785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90"/>
              </a:lnSpc>
            </a:pPr>
            <a:r>
              <a:rPr lang="en-US" sz="274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•Analyzing this feedback manually is time-consuming and inefficient. Important issues may be overlooked, leading to poor service improvement.</a:t>
            </a:r>
          </a:p>
          <a:p>
            <a:pPr algn="just">
              <a:lnSpc>
                <a:spcPts val="3290"/>
              </a:lnSpc>
            </a:pPr>
            <a:endParaRPr lang="en-US" sz="2742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3290"/>
              </a:lnSpc>
            </a:pPr>
            <a:r>
              <a:rPr lang="en-US" sz="274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•Therefore, there is a need for an automated system that can analyze and categorize feedback efficiently.</a:t>
            </a:r>
          </a:p>
          <a:p>
            <a:pPr marL="0" lvl="0" indent="0" algn="just">
              <a:lnSpc>
                <a:spcPts val="3290"/>
              </a:lnSpc>
            </a:pPr>
            <a:endParaRPr lang="en-US" sz="2742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5F4F2">
                <a:alpha val="100000"/>
              </a:srgbClr>
            </a:gs>
            <a:gs pos="100000">
              <a:srgbClr val="E3F2F7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7114" y="3665235"/>
            <a:ext cx="18305114" cy="6621765"/>
            <a:chOff x="0" y="0"/>
            <a:chExt cx="4821100" cy="17440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21100" cy="1744004"/>
            </a:xfrm>
            <a:custGeom>
              <a:avLst/>
              <a:gdLst/>
              <a:ahLst/>
              <a:cxnLst/>
              <a:rect l="l" t="t" r="r" b="b"/>
              <a:pathLst>
                <a:path w="4821100" h="1744004">
                  <a:moveTo>
                    <a:pt x="0" y="0"/>
                  </a:moveTo>
                  <a:lnTo>
                    <a:pt x="4821100" y="0"/>
                  </a:lnTo>
                  <a:lnTo>
                    <a:pt x="4821100" y="1744004"/>
                  </a:lnTo>
                  <a:lnTo>
                    <a:pt x="0" y="1744004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4821100" cy="18106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21002" lvl="1" algn="l">
                <a:lnSpc>
                  <a:spcPts val="5030"/>
                </a:lnSpc>
              </a:pPr>
              <a:r>
                <a:rPr lang="en-US" sz="3899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main objectives of this project are:</a:t>
              </a:r>
            </a:p>
            <a:p>
              <a:pPr marL="842004" lvl="1" indent="-421002" algn="l">
                <a:lnSpc>
                  <a:spcPts val="5030"/>
                </a:lnSpc>
                <a:buAutoNum type="arabicPeriod"/>
              </a:pPr>
              <a:r>
                <a:rPr lang="en-US" sz="3899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 automatically classify healthcare feedback into categories</a:t>
              </a:r>
            </a:p>
            <a:p>
              <a:pPr marL="842004" lvl="1" indent="-421002" algn="l">
                <a:lnSpc>
                  <a:spcPts val="5030"/>
                </a:lnSpc>
                <a:buAutoNum type="arabicPeriod"/>
              </a:pPr>
              <a:r>
                <a:rPr lang="en-US" sz="3899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Categories include: staff, delay, facility, billing, and treatment</a:t>
              </a:r>
            </a:p>
            <a:p>
              <a:pPr marL="842004" lvl="1" indent="-421002" algn="l">
                <a:lnSpc>
                  <a:spcPts val="5030"/>
                </a:lnSpc>
                <a:buAutoNum type="arabicPeriod"/>
              </a:pPr>
              <a:r>
                <a:rPr lang="en-US" sz="3899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 reduce manual effort in analyzing feedback</a:t>
              </a:r>
            </a:p>
            <a:p>
              <a:pPr marL="842004" lvl="1" indent="-421002" algn="l">
                <a:lnSpc>
                  <a:spcPts val="5030"/>
                </a:lnSpc>
                <a:buAutoNum type="arabicPeriod"/>
              </a:pPr>
              <a:r>
                <a:rPr lang="en-US" sz="3899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 build a simple and user-friendly web interface</a:t>
              </a:r>
            </a:p>
            <a:p>
              <a:pPr algn="l">
                <a:lnSpc>
                  <a:spcPts val="5030"/>
                </a:lnSpc>
              </a:pPr>
              <a:endParaRPr lang="en-US" sz="38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>
            <a:off x="12036334" y="3665235"/>
            <a:ext cx="6520947" cy="6820542"/>
          </a:xfrm>
          <a:custGeom>
            <a:avLst/>
            <a:gdLst/>
            <a:ahLst/>
            <a:cxnLst/>
            <a:rect l="l" t="t" r="r" b="b"/>
            <a:pathLst>
              <a:path w="6520947" h="6820542">
                <a:moveTo>
                  <a:pt x="0" y="0"/>
                </a:moveTo>
                <a:lnTo>
                  <a:pt x="6520947" y="0"/>
                </a:lnTo>
                <a:lnTo>
                  <a:pt x="6520947" y="6820542"/>
                </a:lnTo>
                <a:lnTo>
                  <a:pt x="0" y="68205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AutoShape 6"/>
          <p:cNvSpPr/>
          <p:nvPr/>
        </p:nvSpPr>
        <p:spPr>
          <a:xfrm>
            <a:off x="-17114" y="3646185"/>
            <a:ext cx="18421190" cy="0"/>
          </a:xfrm>
          <a:prstGeom prst="line">
            <a:avLst/>
          </a:prstGeom>
          <a:ln w="38100" cap="rnd">
            <a:solidFill>
              <a:srgbClr val="18161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886156" y="3522692"/>
            <a:ext cx="285087" cy="285087"/>
          </a:xfrm>
          <a:custGeom>
            <a:avLst/>
            <a:gdLst/>
            <a:ahLst/>
            <a:cxnLst/>
            <a:rect l="l" t="t" r="r" b="b"/>
            <a:pathLst>
              <a:path w="285087" h="285087">
                <a:moveTo>
                  <a:pt x="0" y="0"/>
                </a:moveTo>
                <a:lnTo>
                  <a:pt x="285088" y="0"/>
                </a:lnTo>
                <a:lnTo>
                  <a:pt x="285088" y="285087"/>
                </a:lnTo>
                <a:lnTo>
                  <a:pt x="0" y="2850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11004342" y="3522692"/>
            <a:ext cx="285087" cy="285087"/>
          </a:xfrm>
          <a:custGeom>
            <a:avLst/>
            <a:gdLst/>
            <a:ahLst/>
            <a:cxnLst/>
            <a:rect l="l" t="t" r="r" b="b"/>
            <a:pathLst>
              <a:path w="285087" h="285087">
                <a:moveTo>
                  <a:pt x="0" y="0"/>
                </a:moveTo>
                <a:lnTo>
                  <a:pt x="285088" y="0"/>
                </a:lnTo>
                <a:lnTo>
                  <a:pt x="285088" y="285087"/>
                </a:lnTo>
                <a:lnTo>
                  <a:pt x="0" y="2850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/>
          <p:cNvSpPr txBox="1"/>
          <p:nvPr/>
        </p:nvSpPr>
        <p:spPr>
          <a:xfrm>
            <a:off x="681766" y="831538"/>
            <a:ext cx="11354568" cy="885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6999" b="1" spc="433">
                <a:solidFill>
                  <a:srgbClr val="18161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OBJECTIVE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5F4F2">
                <a:alpha val="100000"/>
              </a:srgbClr>
            </a:gs>
            <a:gs pos="100000">
              <a:srgbClr val="E3F2F7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224253" y="3733158"/>
            <a:ext cx="6520947" cy="6820542"/>
          </a:xfrm>
          <a:custGeom>
            <a:avLst/>
            <a:gdLst/>
            <a:ahLst/>
            <a:cxnLst/>
            <a:rect l="l" t="t" r="r" b="b"/>
            <a:pathLst>
              <a:path w="6520947" h="6820542">
                <a:moveTo>
                  <a:pt x="0" y="0"/>
                </a:moveTo>
                <a:lnTo>
                  <a:pt x="6520947" y="0"/>
                </a:lnTo>
                <a:lnTo>
                  <a:pt x="6520947" y="6820542"/>
                </a:lnTo>
                <a:lnTo>
                  <a:pt x="0" y="68205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2442277" y="905327"/>
            <a:ext cx="12685560" cy="1097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09"/>
              </a:lnSpc>
            </a:pPr>
            <a:r>
              <a:rPr lang="en-US" sz="8566" b="1">
                <a:solidFill>
                  <a:srgbClr val="18161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SOLUTION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027227" y="2850506"/>
            <a:ext cx="13924172" cy="6160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125"/>
              </a:lnSpc>
            </a:pPr>
            <a:r>
              <a:rPr lang="en-US" sz="40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project proposes a hybrid system that combines:</a:t>
            </a:r>
          </a:p>
          <a:p>
            <a:pPr algn="just">
              <a:lnSpc>
                <a:spcPts val="6125"/>
              </a:lnSpc>
            </a:pPr>
            <a:r>
              <a:rPr lang="en-US" sz="40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•Rule-based keyword matching</a:t>
            </a:r>
          </a:p>
          <a:p>
            <a:pPr algn="just">
              <a:lnSpc>
                <a:spcPts val="6125"/>
              </a:lnSpc>
            </a:pPr>
            <a:r>
              <a:rPr lang="en-US" sz="40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•Machine Learning model (Naive Bayes)</a:t>
            </a:r>
          </a:p>
          <a:p>
            <a:pPr algn="just">
              <a:lnSpc>
                <a:spcPts val="6125"/>
              </a:lnSpc>
            </a:pPr>
            <a:r>
              <a:rPr lang="en-US" sz="40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•The system analyzes input feedback and categorizes it into relevant classes.</a:t>
            </a:r>
          </a:p>
          <a:p>
            <a:pPr algn="just">
              <a:lnSpc>
                <a:spcPts val="6125"/>
              </a:lnSpc>
            </a:pPr>
            <a:r>
              <a:rPr lang="en-US" sz="40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•A web interface is developed using </a:t>
            </a:r>
            <a:r>
              <a:rPr lang="en-US" sz="402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Streamlit</a:t>
            </a:r>
            <a:r>
              <a:rPr lang="en-US" sz="40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allow users to easily interact with the system.</a:t>
            </a:r>
          </a:p>
          <a:p>
            <a:pPr marL="0" lvl="0" indent="0" algn="just">
              <a:lnSpc>
                <a:spcPts val="6125"/>
              </a:lnSpc>
            </a:pPr>
            <a:endParaRPr lang="en-US" sz="402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5F4F2">
                <a:alpha val="100000"/>
              </a:srgbClr>
            </a:gs>
            <a:gs pos="100000">
              <a:srgbClr val="E3F2F7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0018" y="-14074"/>
            <a:ext cx="6047198" cy="10301074"/>
            <a:chOff x="0" y="0"/>
            <a:chExt cx="1592678" cy="27130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92678" cy="2713040"/>
            </a:xfrm>
            <a:custGeom>
              <a:avLst/>
              <a:gdLst/>
              <a:ahLst/>
              <a:cxnLst/>
              <a:rect l="l" t="t" r="r" b="b"/>
              <a:pathLst>
                <a:path w="1592678" h="2713040">
                  <a:moveTo>
                    <a:pt x="0" y="0"/>
                  </a:moveTo>
                  <a:lnTo>
                    <a:pt x="1592678" y="0"/>
                  </a:lnTo>
                  <a:lnTo>
                    <a:pt x="1592678" y="2713040"/>
                  </a:lnTo>
                  <a:lnTo>
                    <a:pt x="0" y="271304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1592678" cy="26939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007180" y="-14074"/>
            <a:ext cx="6029154" cy="10301074"/>
            <a:chOff x="0" y="0"/>
            <a:chExt cx="1587925" cy="27130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87925" cy="2713040"/>
            </a:xfrm>
            <a:custGeom>
              <a:avLst/>
              <a:gdLst/>
              <a:ahLst/>
              <a:cxnLst/>
              <a:rect l="l" t="t" r="r" b="b"/>
              <a:pathLst>
                <a:path w="1587925" h="2713040">
                  <a:moveTo>
                    <a:pt x="0" y="0"/>
                  </a:moveTo>
                  <a:lnTo>
                    <a:pt x="1587925" y="0"/>
                  </a:lnTo>
                  <a:lnTo>
                    <a:pt x="1587925" y="2713040"/>
                  </a:lnTo>
                  <a:lnTo>
                    <a:pt x="0" y="271304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9050"/>
              <a:ext cx="1587925" cy="26939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0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2036334" y="3665235"/>
            <a:ext cx="6520947" cy="6820542"/>
          </a:xfrm>
          <a:custGeom>
            <a:avLst/>
            <a:gdLst/>
            <a:ahLst/>
            <a:cxnLst/>
            <a:rect l="l" t="t" r="r" b="b"/>
            <a:pathLst>
              <a:path w="6520947" h="6820542">
                <a:moveTo>
                  <a:pt x="0" y="0"/>
                </a:moveTo>
                <a:lnTo>
                  <a:pt x="6520947" y="0"/>
                </a:lnTo>
                <a:lnTo>
                  <a:pt x="6520947" y="6820542"/>
                </a:lnTo>
                <a:lnTo>
                  <a:pt x="0" y="68205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/>
          <p:cNvSpPr txBox="1"/>
          <p:nvPr/>
        </p:nvSpPr>
        <p:spPr>
          <a:xfrm>
            <a:off x="2529094" y="1294487"/>
            <a:ext cx="12985325" cy="1266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99"/>
              </a:lnSpc>
            </a:pPr>
            <a:r>
              <a:rPr lang="en-US" sz="9999" b="1">
                <a:solidFill>
                  <a:srgbClr val="18161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METHODOLOGY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81766" y="4781882"/>
            <a:ext cx="4668189" cy="2979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43"/>
              </a:lnSpc>
            </a:pPr>
            <a:r>
              <a:rPr lang="en-US" sz="2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•Collect feedback data from dataset</a:t>
            </a:r>
          </a:p>
          <a:p>
            <a:pPr algn="just">
              <a:lnSpc>
                <a:spcPts val="3943"/>
              </a:lnSpc>
            </a:pPr>
            <a:r>
              <a:rPr lang="en-US" sz="2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•Preprocess text data</a:t>
            </a:r>
          </a:p>
          <a:p>
            <a:pPr algn="just">
              <a:lnSpc>
                <a:spcPts val="3943"/>
              </a:lnSpc>
            </a:pPr>
            <a:r>
              <a:rPr lang="en-US" sz="2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•Convert text into numerical form using Count Vectorizer</a:t>
            </a:r>
          </a:p>
          <a:p>
            <a:pPr marL="0" lvl="0" indent="0" algn="just">
              <a:lnSpc>
                <a:spcPts val="3943"/>
              </a:lnSpc>
            </a:pPr>
            <a:endParaRPr lang="en-US" sz="28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572935" y="5124450"/>
            <a:ext cx="4897644" cy="2076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•Train a Naive Bayes model</a:t>
            </a:r>
          </a:p>
          <a:p>
            <a:pPr algn="l">
              <a:lnSpc>
                <a:spcPts val="4589"/>
              </a:lnSpc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•Apply rule-based keyword matching</a:t>
            </a:r>
          </a:p>
          <a:p>
            <a:pPr marL="0" lvl="0" indent="0" algn="l">
              <a:lnSpc>
                <a:spcPts val="3599"/>
              </a:lnSpc>
            </a:pPr>
            <a:endParaRPr lang="en-US" sz="29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2465187" y="5067300"/>
            <a:ext cx="5357369" cy="1520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0"/>
              </a:lnSpc>
            </a:pPr>
            <a:r>
              <a:rPr lang="en-US" sz="2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•Combine both outputs</a:t>
            </a:r>
          </a:p>
          <a:p>
            <a:pPr algn="just">
              <a:lnSpc>
                <a:spcPts val="4030"/>
              </a:lnSpc>
            </a:pPr>
            <a:r>
              <a:rPr lang="en-US" sz="2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•Display final categorized result</a:t>
            </a:r>
          </a:p>
          <a:p>
            <a:pPr marL="0" lvl="0" indent="0" algn="just">
              <a:lnSpc>
                <a:spcPts val="4030"/>
              </a:lnSpc>
            </a:pPr>
            <a:endParaRPr lang="en-US" sz="28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" name="AutoShape 13"/>
          <p:cNvSpPr/>
          <p:nvPr/>
        </p:nvSpPr>
        <p:spPr>
          <a:xfrm flipV="1">
            <a:off x="417816" y="9960215"/>
            <a:ext cx="17404741" cy="0"/>
          </a:xfrm>
          <a:prstGeom prst="line">
            <a:avLst/>
          </a:prstGeom>
          <a:ln w="38100" cap="flat">
            <a:solidFill>
              <a:srgbClr val="112D4C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Box 14"/>
          <p:cNvSpPr txBox="1"/>
          <p:nvPr/>
        </p:nvSpPr>
        <p:spPr>
          <a:xfrm>
            <a:off x="2345936" y="3466163"/>
            <a:ext cx="12150822" cy="525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99"/>
              </a:lnSpc>
              <a:spcBef>
                <a:spcPct val="0"/>
              </a:spcBef>
            </a:pPr>
            <a:r>
              <a:rPr lang="en-US" sz="3799" b="1" spc="33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system follows these steps: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5F4F2">
                <a:alpha val="100000"/>
              </a:srgbClr>
            </a:gs>
            <a:gs pos="100000">
              <a:srgbClr val="E3F2F7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072848"/>
            <a:ext cx="18431402" cy="7252252"/>
            <a:chOff x="0" y="0"/>
            <a:chExt cx="4854361" cy="19100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54361" cy="1910058"/>
            </a:xfrm>
            <a:custGeom>
              <a:avLst/>
              <a:gdLst/>
              <a:ahLst/>
              <a:cxnLst/>
              <a:rect l="l" t="t" r="r" b="b"/>
              <a:pathLst>
                <a:path w="4854361" h="1910058">
                  <a:moveTo>
                    <a:pt x="0" y="0"/>
                  </a:moveTo>
                  <a:lnTo>
                    <a:pt x="4854361" y="0"/>
                  </a:lnTo>
                  <a:lnTo>
                    <a:pt x="4854361" y="1910058"/>
                  </a:lnTo>
                  <a:lnTo>
                    <a:pt x="0" y="1910058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4854361" cy="18910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2036334" y="3665235"/>
            <a:ext cx="6520947" cy="6820542"/>
          </a:xfrm>
          <a:custGeom>
            <a:avLst/>
            <a:gdLst/>
            <a:ahLst/>
            <a:cxnLst/>
            <a:rect l="l" t="t" r="r" b="b"/>
            <a:pathLst>
              <a:path w="6520947" h="6820542">
                <a:moveTo>
                  <a:pt x="0" y="0"/>
                </a:moveTo>
                <a:lnTo>
                  <a:pt x="6520947" y="0"/>
                </a:lnTo>
                <a:lnTo>
                  <a:pt x="6520947" y="6820542"/>
                </a:lnTo>
                <a:lnTo>
                  <a:pt x="0" y="68205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6" name="Group 6"/>
          <p:cNvGrpSpPr/>
          <p:nvPr/>
        </p:nvGrpSpPr>
        <p:grpSpPr>
          <a:xfrm>
            <a:off x="1283721" y="2916075"/>
            <a:ext cx="6961050" cy="7370925"/>
            <a:chOff x="0" y="0"/>
            <a:chExt cx="1078449" cy="114194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78449" cy="1141949"/>
            </a:xfrm>
            <a:custGeom>
              <a:avLst/>
              <a:gdLst/>
              <a:ahLst/>
              <a:cxnLst/>
              <a:rect l="l" t="t" r="r" b="b"/>
              <a:pathLst>
                <a:path w="1078449" h="1141949">
                  <a:moveTo>
                    <a:pt x="0" y="0"/>
                  </a:moveTo>
                  <a:lnTo>
                    <a:pt x="1078449" y="0"/>
                  </a:lnTo>
                  <a:lnTo>
                    <a:pt x="1078449" y="1141949"/>
                  </a:lnTo>
                  <a:lnTo>
                    <a:pt x="0" y="1141949"/>
                  </a:lnTo>
                  <a:close/>
                </a:path>
              </a:pathLst>
            </a:custGeom>
            <a:blipFill>
              <a:blip r:embed="rId3"/>
              <a:stretch>
                <a:fillRect l="-29997" r="-29997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8619011" y="3636660"/>
            <a:ext cx="7913247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79"/>
              </a:lnSpc>
            </a:pPr>
            <a:r>
              <a:rPr lang="en-US" sz="38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following technologies are used:</a:t>
            </a:r>
          </a:p>
          <a:p>
            <a:pPr marL="0" lvl="0" indent="0" algn="just">
              <a:lnSpc>
                <a:spcPts val="3839"/>
              </a:lnSpc>
            </a:pPr>
            <a:endParaRPr lang="en-US" sz="3899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81766" y="1573550"/>
            <a:ext cx="15675767" cy="948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59"/>
              </a:lnSpc>
            </a:pPr>
            <a:r>
              <a:rPr lang="en-US" sz="7399" b="1">
                <a:solidFill>
                  <a:srgbClr val="18161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TECHNOLOGIES USED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619011" y="5467141"/>
            <a:ext cx="8835642" cy="3467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59"/>
              </a:lnSpc>
            </a:pPr>
            <a:r>
              <a:rPr lang="en-US" sz="3716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•Python</a:t>
            </a:r>
          </a:p>
          <a:p>
            <a:pPr algn="l">
              <a:lnSpc>
                <a:spcPts val="4459"/>
              </a:lnSpc>
            </a:pPr>
            <a:r>
              <a:rPr lang="en-US" sz="3716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•Pandas (for data handling)</a:t>
            </a:r>
          </a:p>
          <a:p>
            <a:pPr algn="l">
              <a:lnSpc>
                <a:spcPts val="4459"/>
              </a:lnSpc>
            </a:pPr>
            <a:r>
              <a:rPr lang="en-US" sz="3716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•Scikit-learn (for machine learning)</a:t>
            </a:r>
          </a:p>
          <a:p>
            <a:pPr algn="l">
              <a:lnSpc>
                <a:spcPts val="4459"/>
              </a:lnSpc>
            </a:pPr>
            <a:r>
              <a:rPr lang="en-US" sz="3716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r>
              <a:rPr lang="en-US" sz="3716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Streamlit</a:t>
            </a:r>
            <a:r>
              <a:rPr lang="en-US" sz="3716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(for web interface)</a:t>
            </a:r>
          </a:p>
          <a:p>
            <a:pPr algn="l">
              <a:lnSpc>
                <a:spcPts val="4459"/>
              </a:lnSpc>
            </a:pPr>
            <a:r>
              <a:rPr lang="en-US" sz="3716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•VS Code (development environment)</a:t>
            </a:r>
          </a:p>
          <a:p>
            <a:pPr marL="0" lvl="0" indent="0" algn="l">
              <a:lnSpc>
                <a:spcPts val="5179"/>
              </a:lnSpc>
            </a:pPr>
            <a:endParaRPr lang="en-US" sz="3716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5F4F2">
                <a:alpha val="100000"/>
              </a:srgbClr>
            </a:gs>
            <a:gs pos="100000">
              <a:srgbClr val="E3F2F7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036334" y="3665235"/>
            <a:ext cx="6520947" cy="6820542"/>
          </a:xfrm>
          <a:custGeom>
            <a:avLst/>
            <a:gdLst/>
            <a:ahLst/>
            <a:cxnLst/>
            <a:rect l="l" t="t" r="r" b="b"/>
            <a:pathLst>
              <a:path w="6520947" h="6820542">
                <a:moveTo>
                  <a:pt x="0" y="0"/>
                </a:moveTo>
                <a:lnTo>
                  <a:pt x="6520947" y="0"/>
                </a:lnTo>
                <a:lnTo>
                  <a:pt x="6520947" y="6820542"/>
                </a:lnTo>
                <a:lnTo>
                  <a:pt x="0" y="68205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681766" y="865056"/>
            <a:ext cx="14055701" cy="885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6999" b="1" spc="475">
                <a:solidFill>
                  <a:srgbClr val="18161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WORKING OF THE SYSTEM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1766" y="2791576"/>
            <a:ext cx="12361887" cy="1314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2" lvl="1" algn="l">
              <a:lnSpc>
                <a:spcPts val="5999"/>
              </a:lnSpc>
            </a:pPr>
            <a:r>
              <a:rPr lang="en-US" sz="4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working process of the system is:</a:t>
            </a:r>
          </a:p>
          <a:p>
            <a:pPr marL="0" lvl="0" indent="0" algn="just">
              <a:lnSpc>
                <a:spcPts val="4079"/>
              </a:lnSpc>
            </a:pPr>
            <a:endParaRPr lang="en-US" sz="49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333616" y="3763126"/>
            <a:ext cx="13963191" cy="3590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672"/>
              </a:lnSpc>
            </a:pPr>
            <a:r>
              <a:rPr lang="en-US" sz="472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•User enters feedback in the web app</a:t>
            </a:r>
          </a:p>
          <a:p>
            <a:pPr algn="just">
              <a:lnSpc>
                <a:spcPts val="5672"/>
              </a:lnSpc>
            </a:pPr>
            <a:r>
              <a:rPr lang="en-US" sz="472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•Rule-based system checks for keywords</a:t>
            </a:r>
          </a:p>
          <a:p>
            <a:pPr algn="just">
              <a:lnSpc>
                <a:spcPts val="5672"/>
              </a:lnSpc>
            </a:pPr>
            <a:r>
              <a:rPr lang="en-US" sz="472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•Machine learning model predicts category</a:t>
            </a:r>
          </a:p>
          <a:p>
            <a:pPr algn="just">
              <a:lnSpc>
                <a:spcPts val="5672"/>
              </a:lnSpc>
            </a:pPr>
            <a:r>
              <a:rPr lang="en-US" sz="472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•Both outputs are combined</a:t>
            </a:r>
          </a:p>
          <a:p>
            <a:pPr marL="0" lvl="0" indent="0" algn="just">
              <a:lnSpc>
                <a:spcPts val="5672"/>
              </a:lnSpc>
            </a:pPr>
            <a:r>
              <a:rPr lang="en-US" sz="472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categories are displayed to the user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5F4F2">
                <a:alpha val="100000"/>
              </a:srgbClr>
            </a:gs>
            <a:gs pos="100000">
              <a:srgbClr val="E3F2F7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036334" y="2522946"/>
            <a:ext cx="6042055" cy="4552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3548" lvl="1" algn="l">
              <a:lnSpc>
                <a:spcPts val="4541"/>
              </a:lnSpc>
            </a:pPr>
            <a:r>
              <a:rPr lang="en-US" sz="271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Input:</a:t>
            </a:r>
          </a:p>
          <a:p>
            <a:pPr algn="just">
              <a:lnSpc>
                <a:spcPts val="4541"/>
              </a:lnSpc>
            </a:pPr>
            <a:r>
              <a:rPr lang="en-US" sz="271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doctor was rude bahut delay </a:t>
            </a:r>
            <a:r>
              <a:rPr lang="en-US" sz="271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hua</a:t>
            </a:r>
            <a:endParaRPr lang="en-US" sz="271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3548" lvl="1" algn="l">
              <a:lnSpc>
                <a:spcPts val="4541"/>
              </a:lnSpc>
            </a:pPr>
            <a:r>
              <a:rPr lang="en-US" sz="271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Output:</a:t>
            </a:r>
          </a:p>
          <a:p>
            <a:pPr algn="just">
              <a:lnSpc>
                <a:spcPts val="4541"/>
              </a:lnSpc>
            </a:pPr>
            <a:r>
              <a:rPr lang="en-US" sz="271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r>
              <a:rPr lang="en-US" sz="271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Rule-based: </a:t>
            </a:r>
            <a:r>
              <a:rPr lang="en-US" sz="271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staff, delay</a:t>
            </a:r>
          </a:p>
          <a:p>
            <a:pPr algn="just">
              <a:lnSpc>
                <a:spcPts val="4541"/>
              </a:lnSpc>
            </a:pPr>
            <a:r>
              <a:rPr lang="en-US" sz="271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r>
              <a:rPr lang="en-US" sz="271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ML Prediction: </a:t>
            </a:r>
            <a:r>
              <a:rPr lang="en-US" sz="271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staff</a:t>
            </a:r>
          </a:p>
          <a:p>
            <a:pPr algn="just">
              <a:lnSpc>
                <a:spcPts val="4541"/>
              </a:lnSpc>
            </a:pPr>
            <a:r>
              <a:rPr lang="en-US" sz="271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r>
              <a:rPr lang="en-US" sz="271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Final Output: </a:t>
            </a:r>
            <a:r>
              <a:rPr lang="en-US" sz="271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staff, delay</a:t>
            </a:r>
          </a:p>
          <a:p>
            <a:pPr marL="0" lvl="0" indent="0" algn="just">
              <a:lnSpc>
                <a:spcPts val="4541"/>
              </a:lnSpc>
            </a:pPr>
            <a:r>
              <a:rPr lang="en-US" sz="271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shows that the system can detect multiple issues from a single feedback.</a:t>
            </a:r>
          </a:p>
        </p:txBody>
      </p:sp>
      <p:sp>
        <p:nvSpPr>
          <p:cNvPr id="3" name="Freeform 3"/>
          <p:cNvSpPr/>
          <p:nvPr/>
        </p:nvSpPr>
        <p:spPr>
          <a:xfrm>
            <a:off x="12036334" y="3665235"/>
            <a:ext cx="6520947" cy="6820542"/>
          </a:xfrm>
          <a:custGeom>
            <a:avLst/>
            <a:gdLst/>
            <a:ahLst/>
            <a:cxnLst/>
            <a:rect l="l" t="t" r="r" b="b"/>
            <a:pathLst>
              <a:path w="6520947" h="6820542">
                <a:moveTo>
                  <a:pt x="0" y="0"/>
                </a:moveTo>
                <a:lnTo>
                  <a:pt x="6520947" y="0"/>
                </a:lnTo>
                <a:lnTo>
                  <a:pt x="6520947" y="6820542"/>
                </a:lnTo>
                <a:lnTo>
                  <a:pt x="0" y="68205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AutoShape 4"/>
          <p:cNvSpPr/>
          <p:nvPr/>
        </p:nvSpPr>
        <p:spPr>
          <a:xfrm>
            <a:off x="425296" y="9960215"/>
            <a:ext cx="17397260" cy="0"/>
          </a:xfrm>
          <a:prstGeom prst="line">
            <a:avLst/>
          </a:prstGeom>
          <a:ln w="38100" cap="flat">
            <a:solidFill>
              <a:srgbClr val="112D4C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265665" y="2153632"/>
            <a:ext cx="11611038" cy="6690861"/>
          </a:xfrm>
          <a:custGeom>
            <a:avLst/>
            <a:gdLst/>
            <a:ahLst/>
            <a:cxnLst/>
            <a:rect l="l" t="t" r="r" b="b"/>
            <a:pathLst>
              <a:path w="11611038" h="6690861">
                <a:moveTo>
                  <a:pt x="0" y="0"/>
                </a:moveTo>
                <a:lnTo>
                  <a:pt x="11611038" y="0"/>
                </a:lnTo>
                <a:lnTo>
                  <a:pt x="11611038" y="6690860"/>
                </a:lnTo>
                <a:lnTo>
                  <a:pt x="0" y="66908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014" r="-2014" b="-402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853825" y="853617"/>
            <a:ext cx="9593915" cy="885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6999" b="1">
                <a:solidFill>
                  <a:srgbClr val="18161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EXAMPLE OUTPUT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5F4F2">
                <a:alpha val="100000"/>
              </a:srgbClr>
            </a:gs>
            <a:gs pos="100000">
              <a:srgbClr val="E3F2F7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876117" y="3686940"/>
            <a:ext cx="6520947" cy="6820542"/>
          </a:xfrm>
          <a:custGeom>
            <a:avLst/>
            <a:gdLst/>
            <a:ahLst/>
            <a:cxnLst/>
            <a:rect l="l" t="t" r="r" b="b"/>
            <a:pathLst>
              <a:path w="6520947" h="6820542">
                <a:moveTo>
                  <a:pt x="0" y="0"/>
                </a:moveTo>
                <a:lnTo>
                  <a:pt x="6520947" y="0"/>
                </a:lnTo>
                <a:lnTo>
                  <a:pt x="6520947" y="6820542"/>
                </a:lnTo>
                <a:lnTo>
                  <a:pt x="0" y="68205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1434312" y="709613"/>
            <a:ext cx="11354568" cy="1188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79"/>
              </a:lnSpc>
            </a:pPr>
            <a:r>
              <a:rPr lang="en-US" sz="9199" b="1">
                <a:solidFill>
                  <a:srgbClr val="18161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RESULTS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1766" y="2705492"/>
            <a:ext cx="7757018" cy="4391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848"/>
              </a:lnSpc>
            </a:pPr>
            <a:r>
              <a:rPr lang="en-US" sz="336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successfully:</a:t>
            </a:r>
          </a:p>
          <a:p>
            <a:pPr algn="just">
              <a:lnSpc>
                <a:spcPts val="5848"/>
              </a:lnSpc>
            </a:pPr>
            <a:r>
              <a:rPr lang="en-US" sz="336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•Classifies feedback into multiple categories</a:t>
            </a:r>
          </a:p>
          <a:p>
            <a:pPr algn="just">
              <a:lnSpc>
                <a:spcPts val="5848"/>
              </a:lnSpc>
            </a:pPr>
            <a:r>
              <a:rPr lang="en-US" sz="336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•Works with both English and Hindi words</a:t>
            </a:r>
          </a:p>
          <a:p>
            <a:pPr algn="just">
              <a:lnSpc>
                <a:spcPts val="5848"/>
              </a:lnSpc>
            </a:pPr>
            <a:r>
              <a:rPr lang="en-US" sz="336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•Provides fast and accurate results</a:t>
            </a:r>
          </a:p>
          <a:p>
            <a:pPr algn="just">
              <a:lnSpc>
                <a:spcPts val="5848"/>
              </a:lnSpc>
            </a:pPr>
            <a:r>
              <a:rPr lang="en-US" sz="336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•Improves analysis efficiency</a:t>
            </a:r>
          </a:p>
          <a:p>
            <a:pPr marL="0" lvl="0" indent="0" algn="just">
              <a:lnSpc>
                <a:spcPts val="5848"/>
              </a:lnSpc>
            </a:pPr>
            <a:endParaRPr lang="en-US" sz="336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9144000" y="2684786"/>
            <a:ext cx="8115300" cy="3382936"/>
            <a:chOff x="0" y="0"/>
            <a:chExt cx="1110975" cy="4631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10975" cy="463120"/>
            </a:xfrm>
            <a:custGeom>
              <a:avLst/>
              <a:gdLst/>
              <a:ahLst/>
              <a:cxnLst/>
              <a:rect l="l" t="t" r="r" b="b"/>
              <a:pathLst>
                <a:path w="1110975" h="463120">
                  <a:moveTo>
                    <a:pt x="0" y="0"/>
                  </a:moveTo>
                  <a:lnTo>
                    <a:pt x="1110975" y="0"/>
                  </a:lnTo>
                  <a:lnTo>
                    <a:pt x="1110975" y="463120"/>
                  </a:lnTo>
                  <a:lnTo>
                    <a:pt x="0" y="463120"/>
                  </a:lnTo>
                  <a:close/>
                </a:path>
              </a:pathLst>
            </a:custGeom>
            <a:blipFill>
              <a:blip r:embed="rId3"/>
              <a:stretch>
                <a:fillRect t="-29913" b="-2991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5F4F2">
                <a:alpha val="100000"/>
              </a:srgbClr>
            </a:gs>
            <a:gs pos="100000">
              <a:srgbClr val="E3F2F7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43328" y="3011170"/>
            <a:ext cx="13282831" cy="5324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12"/>
              </a:lnSpc>
            </a:pPr>
            <a:r>
              <a:rPr lang="en-US" sz="400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•This project demonstrates an efficient system for healthcare feedback classification.</a:t>
            </a:r>
          </a:p>
          <a:p>
            <a:pPr algn="l">
              <a:lnSpc>
                <a:spcPts val="6012"/>
              </a:lnSpc>
            </a:pPr>
            <a:r>
              <a:rPr lang="en-US" sz="400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•The hybrid approach of rule-based and machine learning improves accuracy and reliability.</a:t>
            </a:r>
          </a:p>
          <a:p>
            <a:pPr algn="l">
              <a:lnSpc>
                <a:spcPts val="6012"/>
              </a:lnSpc>
            </a:pPr>
            <a:r>
              <a:rPr lang="en-US" sz="400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•The system is simple, scalable, and can be used in real-world applications.</a:t>
            </a:r>
          </a:p>
          <a:p>
            <a:pPr algn="l">
              <a:lnSpc>
                <a:spcPts val="6012"/>
              </a:lnSpc>
            </a:pPr>
            <a:endParaRPr lang="en-US" sz="400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2903225" y="1143000"/>
            <a:ext cx="11049133" cy="1177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00"/>
              </a:lnSpc>
              <a:spcBef>
                <a:spcPct val="0"/>
              </a:spcBef>
            </a:pPr>
            <a:r>
              <a:rPr lang="en-US" sz="85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5F4F2">
                <a:alpha val="100000"/>
              </a:srgbClr>
            </a:gs>
            <a:gs pos="100000">
              <a:srgbClr val="E3F2F7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9358" y="1133475"/>
            <a:ext cx="8243667" cy="1062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76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SCOPE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697100" y="3621343"/>
            <a:ext cx="11680736" cy="4776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68"/>
              </a:lnSpc>
            </a:pPr>
            <a:r>
              <a:rPr lang="en-US" sz="447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project can be further improved by:</a:t>
            </a:r>
          </a:p>
          <a:p>
            <a:pPr algn="l">
              <a:lnSpc>
                <a:spcPts val="6268"/>
              </a:lnSpc>
            </a:pPr>
            <a:r>
              <a:rPr lang="en-US" sz="447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•Adding sentiment analysis (positive/negative)</a:t>
            </a:r>
          </a:p>
          <a:p>
            <a:pPr algn="l">
              <a:lnSpc>
                <a:spcPts val="6268"/>
              </a:lnSpc>
            </a:pPr>
            <a:r>
              <a:rPr lang="en-US" sz="447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•Using advanced models like deep learning</a:t>
            </a:r>
          </a:p>
          <a:p>
            <a:pPr algn="l">
              <a:lnSpc>
                <a:spcPts val="6268"/>
              </a:lnSpc>
            </a:pPr>
            <a:r>
              <a:rPr lang="en-US" sz="447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•Supporting more languages</a:t>
            </a:r>
          </a:p>
          <a:p>
            <a:pPr algn="l">
              <a:lnSpc>
                <a:spcPts val="6268"/>
              </a:lnSpc>
            </a:pPr>
            <a:r>
              <a:rPr lang="en-US" sz="447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•Deploying the system online</a:t>
            </a:r>
          </a:p>
          <a:p>
            <a:pPr algn="l">
              <a:lnSpc>
                <a:spcPts val="6268"/>
              </a:lnSpc>
            </a:pPr>
            <a:r>
              <a:rPr lang="en-US" sz="447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Expanding the dataset for better accuracy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5F4F2">
                <a:alpha val="100000"/>
              </a:srgbClr>
            </a:gs>
            <a:gs pos="100000">
              <a:srgbClr val="E3F2F7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84985" y="1152525"/>
            <a:ext cx="12518029" cy="1180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99"/>
              </a:lnSpc>
              <a:spcBef>
                <a:spcPct val="0"/>
              </a:spcBef>
            </a:pPr>
            <a:r>
              <a:rPr lang="en-US" sz="85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GITHUB REPOSITORY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219125" y="3126985"/>
            <a:ext cx="13183890" cy="6175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69"/>
              </a:lnSpc>
            </a:pPr>
            <a:r>
              <a:rPr lang="en-US" sz="377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complete project is available on GitHub.</a:t>
            </a:r>
          </a:p>
          <a:p>
            <a:pPr algn="just">
              <a:lnSpc>
                <a:spcPts val="6069"/>
              </a:lnSpc>
            </a:pPr>
            <a:r>
              <a:rPr lang="en-US" sz="377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includes:</a:t>
            </a:r>
          </a:p>
          <a:p>
            <a:pPr algn="just">
              <a:lnSpc>
                <a:spcPts val="6069"/>
              </a:lnSpc>
            </a:pPr>
            <a:r>
              <a:rPr lang="en-US" sz="377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•Source code files</a:t>
            </a:r>
          </a:p>
          <a:p>
            <a:pPr algn="just">
              <a:lnSpc>
                <a:spcPts val="6069"/>
              </a:lnSpc>
            </a:pPr>
            <a:r>
              <a:rPr lang="en-US" sz="377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•Dataset</a:t>
            </a:r>
          </a:p>
          <a:p>
            <a:pPr algn="just">
              <a:lnSpc>
                <a:spcPts val="6069"/>
              </a:lnSpc>
            </a:pPr>
            <a:r>
              <a:rPr lang="en-US" sz="377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•Project report</a:t>
            </a:r>
          </a:p>
          <a:p>
            <a:pPr algn="just">
              <a:lnSpc>
                <a:spcPts val="6069"/>
              </a:lnSpc>
            </a:pPr>
            <a:r>
              <a:rPr lang="en-US" sz="377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•PPT</a:t>
            </a:r>
          </a:p>
          <a:p>
            <a:pPr marL="813947" lvl="1" indent="-406973" algn="l">
              <a:lnSpc>
                <a:spcPts val="6069"/>
              </a:lnSpc>
              <a:buFont typeface="Arial"/>
              <a:buChar char="•"/>
            </a:pPr>
            <a:r>
              <a:rPr lang="en-US" sz="377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GitHub Link:</a:t>
            </a:r>
          </a:p>
          <a:p>
            <a:pPr algn="just">
              <a:lnSpc>
                <a:spcPts val="6069"/>
              </a:lnSpc>
            </a:pPr>
            <a:endParaRPr lang="en-US" sz="377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5F4F2">
                <a:alpha val="100000"/>
              </a:srgbClr>
            </a:gs>
            <a:gs pos="100000">
              <a:srgbClr val="E3F2F7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01967" y="2126834"/>
            <a:ext cx="5021239" cy="8488286"/>
          </a:xfrm>
          <a:custGeom>
            <a:avLst/>
            <a:gdLst/>
            <a:ahLst/>
            <a:cxnLst/>
            <a:rect l="l" t="t" r="r" b="b"/>
            <a:pathLst>
              <a:path w="5021239" h="8488286">
                <a:moveTo>
                  <a:pt x="0" y="0"/>
                </a:moveTo>
                <a:lnTo>
                  <a:pt x="5021239" y="0"/>
                </a:lnTo>
                <a:lnTo>
                  <a:pt x="5021239" y="8488286"/>
                </a:lnTo>
                <a:lnTo>
                  <a:pt x="0" y="84882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101967" y="-444755"/>
            <a:ext cx="5021239" cy="3046174"/>
          </a:xfrm>
          <a:custGeom>
            <a:avLst/>
            <a:gdLst/>
            <a:ahLst/>
            <a:cxnLst/>
            <a:rect l="l" t="t" r="r" b="b"/>
            <a:pathLst>
              <a:path w="5021239" h="3046174">
                <a:moveTo>
                  <a:pt x="0" y="0"/>
                </a:moveTo>
                <a:lnTo>
                  <a:pt x="5021239" y="0"/>
                </a:lnTo>
                <a:lnTo>
                  <a:pt x="5021239" y="3046174"/>
                </a:lnTo>
                <a:lnTo>
                  <a:pt x="0" y="30461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78654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1327315" y="-34654"/>
            <a:ext cx="4547985" cy="10321654"/>
            <a:chOff x="0" y="0"/>
            <a:chExt cx="704602" cy="159909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04602" cy="1599094"/>
            </a:xfrm>
            <a:custGeom>
              <a:avLst/>
              <a:gdLst/>
              <a:ahLst/>
              <a:cxnLst/>
              <a:rect l="l" t="t" r="r" b="b"/>
              <a:pathLst>
                <a:path w="704602" h="1599094">
                  <a:moveTo>
                    <a:pt x="0" y="0"/>
                  </a:moveTo>
                  <a:lnTo>
                    <a:pt x="704602" y="0"/>
                  </a:lnTo>
                  <a:lnTo>
                    <a:pt x="704602" y="1599094"/>
                  </a:lnTo>
                  <a:lnTo>
                    <a:pt x="0" y="1599094"/>
                  </a:lnTo>
                  <a:close/>
                </a:path>
              </a:pathLst>
            </a:custGeom>
            <a:blipFill>
              <a:blip r:embed="rId3"/>
              <a:stretch>
                <a:fillRect l="-30182" r="-21024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Freeform 6"/>
          <p:cNvSpPr/>
          <p:nvPr/>
        </p:nvSpPr>
        <p:spPr>
          <a:xfrm>
            <a:off x="12036334" y="3665235"/>
            <a:ext cx="6520947" cy="6820542"/>
          </a:xfrm>
          <a:custGeom>
            <a:avLst/>
            <a:gdLst/>
            <a:ahLst/>
            <a:cxnLst/>
            <a:rect l="l" t="t" r="r" b="b"/>
            <a:pathLst>
              <a:path w="6520947" h="6820542">
                <a:moveTo>
                  <a:pt x="0" y="0"/>
                </a:moveTo>
                <a:lnTo>
                  <a:pt x="6520947" y="0"/>
                </a:lnTo>
                <a:lnTo>
                  <a:pt x="6520947" y="6820542"/>
                </a:lnTo>
                <a:lnTo>
                  <a:pt x="0" y="68205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7025041" y="3261764"/>
            <a:ext cx="10996636" cy="4281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646"/>
              </a:lnSpc>
            </a:pPr>
            <a:r>
              <a:rPr lang="en-US" sz="18496" dirty="0">
                <a:solidFill>
                  <a:srgbClr val="1816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YOU!</a:t>
            </a:r>
          </a:p>
        </p:txBody>
      </p:sp>
      <p:sp>
        <p:nvSpPr>
          <p:cNvPr id="8" name="Freeform 8"/>
          <p:cNvSpPr/>
          <p:nvPr/>
        </p:nvSpPr>
        <p:spPr>
          <a:xfrm flipH="1">
            <a:off x="3347091" y="1482638"/>
            <a:ext cx="4248105" cy="8804362"/>
          </a:xfrm>
          <a:custGeom>
            <a:avLst/>
            <a:gdLst/>
            <a:ahLst/>
            <a:cxnLst/>
            <a:rect l="l" t="t" r="r" b="b"/>
            <a:pathLst>
              <a:path w="4248105" h="8804362">
                <a:moveTo>
                  <a:pt x="4248104" y="0"/>
                </a:moveTo>
                <a:lnTo>
                  <a:pt x="0" y="0"/>
                </a:lnTo>
                <a:lnTo>
                  <a:pt x="0" y="8804362"/>
                </a:lnTo>
                <a:lnTo>
                  <a:pt x="4248104" y="8804362"/>
                </a:lnTo>
                <a:lnTo>
                  <a:pt x="4248104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517</Words>
  <Application>Microsoft Office PowerPoint</Application>
  <PresentationFormat>Custom</PresentationFormat>
  <Paragraphs>79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Times New Roman Bold</vt:lpstr>
      <vt:lpstr>Times New Roman Bold Italics</vt:lpstr>
      <vt:lpstr>Times New Roman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FEEDBACK ANALYZER</dc:title>
  <cp:lastModifiedBy>Palak Srivastava</cp:lastModifiedBy>
  <cp:revision>2</cp:revision>
  <dcterms:created xsi:type="dcterms:W3CDTF">2006-08-16T00:00:00Z</dcterms:created>
  <dcterms:modified xsi:type="dcterms:W3CDTF">2026-04-08T15:57:43Z</dcterms:modified>
  <dc:identifier>DAHGQdRpqHg</dc:identifier>
</cp:coreProperties>
</file>